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</p:sldIdLst>
  <p:sldSz cx="43891200" cy="32918400"/>
  <p:notesSz cx="5800725" cy="9094788"/>
  <p:embeddedFontLst>
    <p:embeddedFont>
      <p:font typeface="Amaranth" panose="020B0604020202020204" charset="0"/>
      <p:regular r:id="rId3"/>
    </p:embeddedFont>
    <p:embeddedFont>
      <p:font typeface="Titillium Web" panose="00000500000000000000" pitchFamily="2" charset="0"/>
      <p:regular r:id="rId4"/>
      <p:bold r:id="rId5"/>
      <p:italic r:id="rId6"/>
      <p:boldItalic r:id="rId7"/>
    </p:embeddedFont>
  </p:embeddedFontLst>
  <p:custDataLst>
    <p:tags r:id="rId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9300" kern="1200">
        <a:solidFill>
          <a:schemeClr val="tx1"/>
        </a:solidFill>
        <a:latin typeface="Arial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9300" kern="1200">
        <a:solidFill>
          <a:schemeClr val="tx1"/>
        </a:solidFill>
        <a:latin typeface="Arial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9300" kern="1200">
        <a:solidFill>
          <a:schemeClr val="tx1"/>
        </a:solidFill>
        <a:latin typeface="Arial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9300" kern="1200">
        <a:solidFill>
          <a:schemeClr val="tx1"/>
        </a:solidFill>
        <a:latin typeface="Arial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93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 eaLnBrk="1" latinLnBrk="0" hangingPunct="1">
      <a:defRPr sz="9300" kern="1200">
        <a:solidFill>
          <a:schemeClr val="tx1"/>
        </a:solidFill>
        <a:latin typeface="Arial"/>
        <a:ea typeface="+mn-ea"/>
        <a:cs typeface="+mn-cs"/>
      </a:defRPr>
    </a:lvl6pPr>
    <a:lvl7pPr marL="2743200" algn="l" defTabSz="914400" rtl="0" eaLnBrk="1" latinLnBrk="0" hangingPunct="1">
      <a:defRPr sz="9300" kern="1200">
        <a:solidFill>
          <a:schemeClr val="tx1"/>
        </a:solidFill>
        <a:latin typeface="Arial"/>
        <a:ea typeface="+mn-ea"/>
        <a:cs typeface="+mn-cs"/>
      </a:defRPr>
    </a:lvl7pPr>
    <a:lvl8pPr marL="3200400" algn="l" defTabSz="914400" rtl="0" eaLnBrk="1" latinLnBrk="0" hangingPunct="1">
      <a:defRPr sz="9300" kern="1200">
        <a:solidFill>
          <a:schemeClr val="tx1"/>
        </a:solidFill>
        <a:latin typeface="Arial"/>
        <a:ea typeface="+mn-ea"/>
        <a:cs typeface="+mn-cs"/>
      </a:defRPr>
    </a:lvl8pPr>
    <a:lvl9pPr marL="3657600" algn="l" defTabSz="914400" rtl="0" eaLnBrk="1" latinLnBrk="0" hangingPunct="1">
      <a:defRPr sz="9300" kern="1200">
        <a:solidFill>
          <a:schemeClr val="tx1"/>
        </a:solidFill>
        <a:latin typeface="Arial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 snapToGrid="0">
      <p:cViewPr>
        <p:scale>
          <a:sx n="120" d="100"/>
          <a:sy n="120" d="100"/>
        </p:scale>
        <p:origin x="-11208" y="-15960"/>
      </p:cViewPr>
      <p:guideLst>
        <p:guide orient="horz" pos="10368"/>
        <p:guide pos="13824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heme" Target="theme/theme1.xml"/><Relationship Id="rId5" Type="http://schemas.openxmlformats.org/officeDocument/2006/relationships/font" Target="fonts/font3.fntdata"/><Relationship Id="rId10" Type="http://schemas.openxmlformats.org/officeDocument/2006/relationships/viewProps" Target="viewProps.xml"/><Relationship Id="rId4" Type="http://schemas.openxmlformats.org/officeDocument/2006/relationships/font" Target="fonts/font2.fntdata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2475" y="10226675"/>
            <a:ext cx="37306250" cy="7054850"/>
          </a:xfr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363" y="18653125"/>
            <a:ext cx="30724475" cy="8413750"/>
          </a:xfrm>
        </p:spPr>
        <p:txBody>
          <a:bodyPr/>
          <a:lstStyle>
            <a:defPPr>
              <a:defRPr kern="1200"/>
            </a:defPPr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E9E44D62-E9B9-4A1F-9D60-78A1B8BD21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12747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D772C493-C7EB-4BEF-9EB3-C72AA1A173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92216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0" y="21153438"/>
            <a:ext cx="37307838" cy="6537325"/>
          </a:xfrm>
        </p:spPr>
        <p:txBody>
          <a:bodyPr anchor="t"/>
          <a:lstStyle>
            <a:defPPr>
              <a:defRPr kern="1200"/>
            </a:defPPr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0" y="13952538"/>
            <a:ext cx="37307838" cy="7200900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3239EF23-2AC5-4B50-8C9E-5F8D49668A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62582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3925" y="7680325"/>
            <a:ext cx="19675475" cy="21724938"/>
          </a:xfrm>
        </p:spPr>
        <p:txBody>
          <a:bodyPr/>
          <a:lstStyle>
            <a:defPPr>
              <a:defRPr kern="1200"/>
            </a:defPPr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21800" y="7680325"/>
            <a:ext cx="19675475" cy="21724938"/>
          </a:xfrm>
        </p:spPr>
        <p:txBody>
          <a:bodyPr/>
          <a:lstStyle>
            <a:defPPr>
              <a:defRPr kern="1200"/>
            </a:defPPr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0BBD8762-0F6F-41F2-8E1E-C5EF6CE7FF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39722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3925" y="7369175"/>
            <a:ext cx="19392900" cy="3070225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3925" y="10439400"/>
            <a:ext cx="19392900" cy="18965862"/>
          </a:xfrm>
        </p:spPr>
        <p:txBody>
          <a:bodyPr/>
          <a:lstStyle>
            <a:defPPr>
              <a:defRPr kern="1200"/>
            </a:defPPr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438" y="7369175"/>
            <a:ext cx="19400838" cy="3070225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438" y="10439400"/>
            <a:ext cx="19400838" cy="18965862"/>
          </a:xfrm>
        </p:spPr>
        <p:txBody>
          <a:bodyPr/>
          <a:lstStyle>
            <a:defPPr>
              <a:defRPr kern="1200"/>
            </a:defPPr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C245EB89-E1F0-4213-BFCF-D6A06A13C4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35668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F9249905-9305-4041-8B60-8DE0824E81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812194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97C76933-D99D-4DC1-BD09-1072CC92B2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49367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3925" y="1311275"/>
            <a:ext cx="14439900" cy="5576888"/>
          </a:xfrm>
        </p:spPr>
        <p:txBody>
          <a:bodyPr anchor="b"/>
          <a:lstStyle>
            <a:defPPr>
              <a:defRPr kern="1200"/>
            </a:defPPr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875" y="1311275"/>
            <a:ext cx="24536400" cy="28093988"/>
          </a:xfrm>
        </p:spPr>
        <p:txBody>
          <a:bodyPr/>
          <a:lstStyle>
            <a:defPPr>
              <a:defRPr kern="1200"/>
            </a:defPPr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3925" y="6888163"/>
            <a:ext cx="14439900" cy="22517100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EF6A5529-8465-4E7D-9DB8-D374C51CD7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111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663" y="23042562"/>
            <a:ext cx="26335038" cy="2720975"/>
          </a:xfrm>
        </p:spPr>
        <p:txBody>
          <a:bodyPr anchor="b"/>
          <a:lstStyle>
            <a:defPPr>
              <a:defRPr kern="1200"/>
            </a:defPPr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663" y="2941638"/>
            <a:ext cx="26335038" cy="19750088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663" y="25763538"/>
            <a:ext cx="26335038" cy="3862387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3C022C6C-C3BF-4CE1-8842-0AC5970173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1050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8A277C51-0625-40F0-8A02-D153CC2D70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85903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821438" y="1317625"/>
            <a:ext cx="9875837" cy="28087638"/>
          </a:xfrm>
        </p:spPr>
        <p:txBody>
          <a:bodyPr vert="eaVert"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3925" y="1317625"/>
            <a:ext cx="29475112" cy="28087638"/>
          </a:xfr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6C9A1A37-7051-412A-8F35-8483CD8F48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170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93925" y="1317625"/>
            <a:ext cx="3950335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ctr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93925" y="7680325"/>
            <a:ext cx="39503350" cy="2172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193925" y="29976762"/>
            <a:ext cx="1024255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4702175">
              <a:defRPr sz="72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995525" y="29976762"/>
            <a:ext cx="1390015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ctr" defTabSz="4702175">
              <a:defRPr sz="72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454725" y="29976762"/>
            <a:ext cx="1024255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4702175">
              <a:defRPr sz="7200" smtClean="0">
                <a:latin typeface="Arial" pitchFamily="34" charset="0"/>
              </a:defRPr>
            </a:lvl1pPr>
          </a:lstStyle>
          <a:p>
            <a:pPr>
              <a:defRPr/>
            </a:pPr>
            <a:fld id="{25043CB6-A91D-4176-912B-555F54C38C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New picture"/>
          <p:cNvPicPr/>
          <p:nvPr/>
        </p:nvPicPr>
        <p:blipFill>
          <a:blip r:embed="rId13"/>
          <a:stretch>
            <a:fillRect/>
          </a:stretch>
        </p:blipFill>
        <p:spPr>
          <a:xfrm rot="16200000">
            <a:off x="-11074400" y="16459200"/>
            <a:ext cx="14274800" cy="3937000"/>
          </a:xfrm>
          <a:prstGeom prst="rect">
            <a:avLst/>
          </a:prstGeom>
        </p:spPr>
      </p:pic>
      <p:pic>
        <p:nvPicPr>
          <p:cNvPr id="1032" name="New picture"/>
          <p:cNvPicPr/>
          <p:nvPr/>
        </p:nvPicPr>
        <p:blipFill>
          <a:blip r:embed="rId13"/>
          <a:stretch>
            <a:fillRect/>
          </a:stretch>
        </p:blipFill>
        <p:spPr>
          <a:xfrm rot="5400000">
            <a:off x="40690800" y="16459200"/>
            <a:ext cx="14274800" cy="3937000"/>
          </a:xfrm>
          <a:prstGeom prst="rect">
            <a:avLst/>
          </a:prstGeom>
        </p:spPr>
      </p:pic>
      <p:pic>
        <p:nvPicPr>
          <p:cNvPr id="1033" name="New picture"/>
          <p:cNvPicPr/>
          <p:nvPr/>
        </p:nvPicPr>
        <p:blipFill>
          <a:blip r:embed="rId14"/>
          <a:stretch>
            <a:fillRect/>
          </a:stretch>
        </p:blipFill>
        <p:spPr>
          <a:xfrm>
            <a:off x="6946900" y="33426400"/>
            <a:ext cx="29997400" cy="1447800"/>
          </a:xfrm>
          <a:prstGeom prst="rect">
            <a:avLst/>
          </a:prstGeom>
        </p:spPr>
      </p:pic>
      <p:sp>
        <p:nvSpPr>
          <p:cNvPr id="1034" name="New shape"/>
          <p:cNvSpPr/>
          <p:nvPr/>
        </p:nvSpPr>
        <p:spPr>
          <a:xfrm>
            <a:off x="6946900" y="33997900"/>
            <a:ext cx="219456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560">
                <a:solidFill>
                  <a:srgbClr val="808080"/>
                </a:solidFill>
              </a:rPr>
              <a:t>Template ID: conceptualizingcobalt  Size: 48x36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defPPr>
        <a:defRPr kern="1200"/>
      </a:defPPr>
      <a:lvl1pPr algn="ctr" defTabSz="4702175" rtl="0" eaLnBrk="0" fontAlgn="base" hangingPunct="0">
        <a:spcBef>
          <a:spcPct val="0"/>
        </a:spcBef>
        <a:spcAft>
          <a:spcPct val="0"/>
        </a:spcAft>
        <a:defRPr sz="22600">
          <a:solidFill>
            <a:schemeClr val="tx2"/>
          </a:solidFill>
          <a:latin typeface="+mj-lt"/>
          <a:ea typeface="+mj-ea"/>
          <a:cs typeface="+mj-cs"/>
        </a:defRPr>
      </a:lvl1pPr>
      <a:lvl2pPr algn="ctr" defTabSz="4702175" rtl="0" eaLnBrk="0" fontAlgn="base" hangingPunct="0">
        <a:spcBef>
          <a:spcPct val="0"/>
        </a:spcBef>
        <a:spcAft>
          <a:spcPct val="0"/>
        </a:spcAft>
        <a:defRPr sz="22600">
          <a:solidFill>
            <a:schemeClr val="tx2"/>
          </a:solidFill>
          <a:latin typeface="Arial" pitchFamily="34" charset="0"/>
        </a:defRPr>
      </a:lvl2pPr>
      <a:lvl3pPr algn="ctr" defTabSz="4702175" rtl="0" eaLnBrk="0" fontAlgn="base" hangingPunct="0">
        <a:spcBef>
          <a:spcPct val="0"/>
        </a:spcBef>
        <a:spcAft>
          <a:spcPct val="0"/>
        </a:spcAft>
        <a:defRPr sz="22600">
          <a:solidFill>
            <a:schemeClr val="tx2"/>
          </a:solidFill>
          <a:latin typeface="Arial" pitchFamily="34" charset="0"/>
        </a:defRPr>
      </a:lvl3pPr>
      <a:lvl4pPr algn="ctr" defTabSz="4702175" rtl="0" eaLnBrk="0" fontAlgn="base" hangingPunct="0">
        <a:spcBef>
          <a:spcPct val="0"/>
        </a:spcBef>
        <a:spcAft>
          <a:spcPct val="0"/>
        </a:spcAft>
        <a:defRPr sz="22600">
          <a:solidFill>
            <a:schemeClr val="tx2"/>
          </a:solidFill>
          <a:latin typeface="Arial" pitchFamily="34" charset="0"/>
        </a:defRPr>
      </a:lvl4pPr>
      <a:lvl5pPr algn="ctr" defTabSz="4702175" rtl="0" eaLnBrk="0" fontAlgn="base" hangingPunct="0">
        <a:spcBef>
          <a:spcPct val="0"/>
        </a:spcBef>
        <a:spcAft>
          <a:spcPct val="0"/>
        </a:spcAft>
        <a:defRPr sz="22600">
          <a:solidFill>
            <a:schemeClr val="tx2"/>
          </a:solidFill>
          <a:latin typeface="Arial" pitchFamily="34" charset="0"/>
        </a:defRPr>
      </a:lvl5pPr>
      <a:lvl6pPr marL="457200" algn="ctr" defTabSz="4702175" rtl="0" fontAlgn="base">
        <a:spcBef>
          <a:spcPct val="0"/>
        </a:spcBef>
        <a:spcAft>
          <a:spcPct val="0"/>
        </a:spcAft>
        <a:defRPr sz="22600">
          <a:solidFill>
            <a:schemeClr val="tx2"/>
          </a:solidFill>
          <a:latin typeface="Arial" pitchFamily="34" charset="0"/>
        </a:defRPr>
      </a:lvl6pPr>
      <a:lvl7pPr marL="914400" algn="ctr" defTabSz="4702175" rtl="0" fontAlgn="base">
        <a:spcBef>
          <a:spcPct val="0"/>
        </a:spcBef>
        <a:spcAft>
          <a:spcPct val="0"/>
        </a:spcAft>
        <a:defRPr sz="22600">
          <a:solidFill>
            <a:schemeClr val="tx2"/>
          </a:solidFill>
          <a:latin typeface="Arial" pitchFamily="34" charset="0"/>
        </a:defRPr>
      </a:lvl7pPr>
      <a:lvl8pPr marL="1371600" algn="ctr" defTabSz="4702175" rtl="0" fontAlgn="base">
        <a:spcBef>
          <a:spcPct val="0"/>
        </a:spcBef>
        <a:spcAft>
          <a:spcPct val="0"/>
        </a:spcAft>
        <a:defRPr sz="22600">
          <a:solidFill>
            <a:schemeClr val="tx2"/>
          </a:solidFill>
          <a:latin typeface="Arial" pitchFamily="34" charset="0"/>
        </a:defRPr>
      </a:lvl8pPr>
      <a:lvl9pPr marL="1828800" algn="ctr" defTabSz="4702175" rtl="0" fontAlgn="base">
        <a:spcBef>
          <a:spcPct val="0"/>
        </a:spcBef>
        <a:spcAft>
          <a:spcPct val="0"/>
        </a:spcAft>
        <a:defRPr sz="22600">
          <a:solidFill>
            <a:schemeClr val="tx2"/>
          </a:solidFill>
          <a:latin typeface="Arial" pitchFamily="34" charset="0"/>
        </a:defRPr>
      </a:lvl9pPr>
    </p:titleStyle>
    <p:bodyStyle>
      <a:defPPr>
        <a:defRPr kern="1200"/>
      </a:defPPr>
      <a:lvl1pPr marL="1763713" indent="-1763713" algn="l" defTabSz="4702175" rtl="0" eaLnBrk="0" fontAlgn="base" hangingPunct="0">
        <a:spcBef>
          <a:spcPct val="20000"/>
        </a:spcBef>
        <a:spcAft>
          <a:spcPct val="0"/>
        </a:spcAft>
        <a:buChar char="•"/>
        <a:defRPr sz="16500">
          <a:solidFill>
            <a:schemeClr val="tx1"/>
          </a:solidFill>
          <a:latin typeface="+mn-lt"/>
          <a:ea typeface="+mn-ea"/>
          <a:cs typeface="+mn-cs"/>
        </a:defRPr>
      </a:lvl1pPr>
      <a:lvl2pPr marL="3821113" indent="-1470025" algn="l" defTabSz="4702175" rtl="0" eaLnBrk="0" fontAlgn="base" hangingPunct="0">
        <a:spcBef>
          <a:spcPct val="20000"/>
        </a:spcBef>
        <a:spcAft>
          <a:spcPct val="0"/>
        </a:spcAft>
        <a:buChar char="–"/>
        <a:defRPr sz="14400">
          <a:solidFill>
            <a:schemeClr val="tx1"/>
          </a:solidFill>
          <a:latin typeface="+mn-lt"/>
        </a:defRPr>
      </a:lvl2pPr>
      <a:lvl3pPr marL="5878513" indent="-1176338" algn="l" defTabSz="4702175" rtl="0" eaLnBrk="0" fontAlgn="base" hangingPunct="0">
        <a:spcBef>
          <a:spcPct val="20000"/>
        </a:spcBef>
        <a:spcAft>
          <a:spcPct val="0"/>
        </a:spcAft>
        <a:buChar char="•"/>
        <a:defRPr sz="12300">
          <a:solidFill>
            <a:schemeClr val="tx1"/>
          </a:solidFill>
          <a:latin typeface="+mn-lt"/>
        </a:defRPr>
      </a:lvl3pPr>
      <a:lvl4pPr marL="8229600" indent="-1176338" algn="l" defTabSz="4702175" rtl="0" eaLnBrk="0" fontAlgn="base" hangingPunct="0">
        <a:spcBef>
          <a:spcPct val="20000"/>
        </a:spcBef>
        <a:spcAft>
          <a:spcPct val="0"/>
        </a:spcAft>
        <a:buChar char="–"/>
        <a:defRPr sz="10300">
          <a:solidFill>
            <a:schemeClr val="tx1"/>
          </a:solidFill>
          <a:latin typeface="+mn-lt"/>
        </a:defRPr>
      </a:lvl4pPr>
      <a:lvl5pPr marL="10580688" indent="-1174750" algn="l" defTabSz="4702175" rtl="0" eaLnBrk="0" fontAlgn="base" hangingPunct="0">
        <a:spcBef>
          <a:spcPct val="20000"/>
        </a:spcBef>
        <a:spcAft>
          <a:spcPct val="0"/>
        </a:spcAft>
        <a:buChar char="»"/>
        <a:defRPr sz="10300">
          <a:solidFill>
            <a:schemeClr val="tx1"/>
          </a:solidFill>
          <a:latin typeface="+mn-lt"/>
        </a:defRPr>
      </a:lvl5pPr>
      <a:lvl6pPr marL="11037888" indent="-1174750" algn="l" defTabSz="4702175" rtl="0" fontAlgn="base">
        <a:spcBef>
          <a:spcPct val="20000"/>
        </a:spcBef>
        <a:spcAft>
          <a:spcPct val="0"/>
        </a:spcAft>
        <a:buChar char="»"/>
        <a:defRPr sz="10300">
          <a:solidFill>
            <a:schemeClr val="tx1"/>
          </a:solidFill>
          <a:latin typeface="+mn-lt"/>
        </a:defRPr>
      </a:lvl6pPr>
      <a:lvl7pPr marL="11495088" indent="-1174750" algn="l" defTabSz="4702175" rtl="0" fontAlgn="base">
        <a:spcBef>
          <a:spcPct val="20000"/>
        </a:spcBef>
        <a:spcAft>
          <a:spcPct val="0"/>
        </a:spcAft>
        <a:buChar char="»"/>
        <a:defRPr sz="10300">
          <a:solidFill>
            <a:schemeClr val="tx1"/>
          </a:solidFill>
          <a:latin typeface="+mn-lt"/>
        </a:defRPr>
      </a:lvl7pPr>
      <a:lvl8pPr marL="11952288" indent="-1174750" algn="l" defTabSz="4702175" rtl="0" fontAlgn="base">
        <a:spcBef>
          <a:spcPct val="20000"/>
        </a:spcBef>
        <a:spcAft>
          <a:spcPct val="0"/>
        </a:spcAft>
        <a:buChar char="»"/>
        <a:defRPr sz="10300">
          <a:solidFill>
            <a:schemeClr val="tx1"/>
          </a:solidFill>
          <a:latin typeface="+mn-lt"/>
        </a:defRPr>
      </a:lvl8pPr>
      <a:lvl9pPr marL="12409488" indent="-1174750" algn="l" defTabSz="4702175" rtl="0" fontAlgn="base">
        <a:spcBef>
          <a:spcPct val="20000"/>
        </a:spcBef>
        <a:spcAft>
          <a:spcPct val="0"/>
        </a:spcAft>
        <a:buChar char="»"/>
        <a:defRPr sz="103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www.kaggle.com/datasets/lakshmi25npathi/imdb-dataset-of-50k-movie-reviews" TargetMode="External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obriend7atwit/NLP_Project_Dylan_OBrien.git" TargetMode="External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1E0E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27"/>
          <p:cNvSpPr>
            <a:spLocks noChangeArrowheads="1"/>
          </p:cNvSpPr>
          <p:nvPr/>
        </p:nvSpPr>
        <p:spPr bwMode="auto">
          <a:xfrm>
            <a:off x="-48494" y="0"/>
            <a:ext cx="43939693" cy="6533048"/>
          </a:xfrm>
          <a:prstGeom prst="rect">
            <a:avLst/>
          </a:prstGeom>
          <a:gradFill>
            <a:gsLst>
              <a:gs pos="5000">
                <a:srgbClr val="235078"/>
              </a:gs>
              <a:gs pos="100000">
                <a:srgbClr val="1482A5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defPPr>
              <a:defRPr kern="1200"/>
            </a:defPPr>
          </a:lstStyle>
          <a:p>
            <a:endParaRPr lang="en-US" dirty="0"/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731520" y="7125252"/>
            <a:ext cx="10058400" cy="12400200"/>
          </a:xfrm>
          <a:prstGeom prst="roundRect">
            <a:avLst>
              <a:gd name="adj" fmla="val 1380"/>
            </a:avLst>
          </a:prstGeom>
          <a:solidFill>
            <a:srgbClr val="B4D3E2"/>
          </a:solidFill>
          <a:ln>
            <a:noFill/>
          </a:ln>
          <a:effectLst/>
        </p:spPr>
        <p:txBody>
          <a:bodyPr wrap="none" lIns="274320" tIns="68580" rIns="274320" bIns="68580" anchor="ctr"/>
          <a:lstStyle>
            <a:defPPr>
              <a:defRPr kern="1200"/>
            </a:defPPr>
          </a:lstStyle>
          <a:p>
            <a:pPr defTabSz="4703763"/>
            <a:endParaRPr lang="en-US" sz="3600">
              <a:noFill/>
              <a:latin typeface="Amaranth" panose="02000503050000020004" pitchFamily="2" charset="0"/>
            </a:endParaRPr>
          </a:p>
        </p:txBody>
      </p:sp>
      <p:sp>
        <p:nvSpPr>
          <p:cNvPr id="2053" name="Text Box 6"/>
          <p:cNvSpPr txBox="1">
            <a:spLocks noChangeArrowheads="1"/>
          </p:cNvSpPr>
          <p:nvPr/>
        </p:nvSpPr>
        <p:spPr bwMode="auto">
          <a:xfrm>
            <a:off x="1005840" y="8445586"/>
            <a:ext cx="9489288" cy="10849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37160" tIns="68580" rIns="137160" bIns="68580">
            <a:spAutoFit/>
          </a:bodyPr>
          <a:lstStyle>
            <a:defPPr>
              <a:defRPr kern="1200"/>
            </a:defPPr>
            <a:lvl1pPr defTabSz="4703763" eaLnBrk="0" hangingPunct="0">
              <a:defRPr sz="9300">
                <a:solidFill>
                  <a:schemeClr val="tx1"/>
                </a:solidFill>
                <a:latin typeface="Arial"/>
              </a:defRPr>
            </a:lvl1pPr>
            <a:lvl2pPr marL="742950" indent="-28575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2pPr>
            <a:lvl3pPr marL="11430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3pPr>
            <a:lvl4pPr marL="16002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4pPr>
            <a:lvl5pPr marL="20574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5pPr>
            <a:lvl6pPr marL="25146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6pPr>
            <a:lvl7pPr marL="29718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7pPr>
            <a:lvl8pPr marL="34290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8pPr>
            <a:lvl9pPr marL="38862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9pPr>
          </a:lstStyle>
          <a:p>
            <a:r>
              <a:rPr lang="en-US" sz="2800" u="sng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Goal: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Automatically classify </a:t>
            </a:r>
            <a:r>
              <a:rPr lang="en-US" sz="28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IMDb movie reviews </a:t>
            </a:r>
            <a:r>
              <a:rPr lang="en-US" sz="28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as </a:t>
            </a:r>
            <a:r>
              <a:rPr lang="en-US" sz="28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positive</a:t>
            </a:r>
            <a:r>
              <a:rPr lang="en-US" sz="28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or </a:t>
            </a:r>
            <a:r>
              <a:rPr lang="en-US" sz="28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negative</a:t>
            </a:r>
            <a:r>
              <a:rPr lang="en-US" sz="28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using modern NLP methods.</a:t>
            </a:r>
            <a:br>
              <a:rPr lang="en-US" sz="28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28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800" u="sng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Baseline: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BERT-based models offer </a:t>
            </a:r>
            <a:r>
              <a:rPr lang="en-US" sz="28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high accuracy </a:t>
            </a:r>
            <a:r>
              <a:rPr lang="en-US" sz="28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but are </a:t>
            </a:r>
            <a:r>
              <a:rPr lang="en-US" sz="28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computationally heavy </a:t>
            </a:r>
            <a:r>
              <a:rPr lang="en-US" sz="28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and </a:t>
            </a:r>
            <a:r>
              <a:rPr lang="en-US" sz="28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memory-intensive.</a:t>
            </a:r>
            <a:br>
              <a:rPr lang="en-US" sz="28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2800" b="1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800" u="sng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Real-world constraint: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Many applications run on </a:t>
            </a:r>
            <a:r>
              <a:rPr lang="en-US" sz="28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resource-limited devices </a:t>
            </a:r>
            <a:r>
              <a:rPr lang="en-US" sz="28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(laptops, embedded systems, web dashboards) where full BERT is costly.</a:t>
            </a:r>
            <a:br>
              <a:rPr lang="en-US" sz="28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28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800" u="sng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Central question: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rgbClr val="FF0000"/>
                </a:solidFill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How much can we compress BERT embeddings or shorten inputs while still preserving sentiment predictions?</a:t>
            </a:r>
            <a:br>
              <a:rPr lang="en-US" sz="2800" b="1" i="1" dirty="0">
                <a:solidFill>
                  <a:srgbClr val="FF0000"/>
                </a:solidFill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2800" b="1" i="1" dirty="0">
              <a:solidFill>
                <a:srgbClr val="FF0000"/>
              </a:solidFill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800" u="sng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Motivation: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Reduce </a:t>
            </a:r>
            <a:r>
              <a:rPr lang="en-US" sz="28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inference cost </a:t>
            </a:r>
            <a:r>
              <a:rPr lang="en-US" sz="28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and </a:t>
            </a:r>
            <a:r>
              <a:rPr lang="en-US" sz="28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storage footprint </a:t>
            </a:r>
            <a:r>
              <a:rPr lang="en-US" sz="28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without severe accuracy loss.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Enable </a:t>
            </a:r>
            <a:r>
              <a:rPr lang="en-US" sz="28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faster, lighter </a:t>
            </a:r>
            <a:r>
              <a:rPr lang="en-US" sz="28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sentiment systems for deployment and teaching.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Provide an </a:t>
            </a:r>
            <a:r>
              <a:rPr lang="en-US" sz="28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interactive tool </a:t>
            </a:r>
            <a:r>
              <a:rPr lang="en-US" sz="28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that helps users see what compression does to text, embeddings, and predictions.</a:t>
            </a:r>
          </a:p>
          <a:p>
            <a:endParaRPr lang="en-US" sz="24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3" name="Rectangle 29"/>
          <p:cNvSpPr>
            <a:spLocks noChangeArrowheads="1"/>
          </p:cNvSpPr>
          <p:nvPr/>
        </p:nvSpPr>
        <p:spPr bwMode="auto">
          <a:xfrm>
            <a:off x="-48492" y="31447268"/>
            <a:ext cx="43939693" cy="1471130"/>
          </a:xfrm>
          <a:prstGeom prst="rect">
            <a:avLst/>
          </a:prstGeom>
          <a:gradFill>
            <a:gsLst>
              <a:gs pos="5000">
                <a:srgbClr val="235078"/>
              </a:gs>
              <a:gs pos="100000">
                <a:srgbClr val="1482A5"/>
              </a:gs>
            </a:gsLst>
            <a:lin ang="0" scaled="1"/>
          </a:gradFill>
          <a:ln>
            <a:noFill/>
          </a:ln>
        </p:spPr>
        <p:txBody>
          <a:bodyPr lIns="137160" tIns="68580" rIns="137160" bIns="68580" anchor="ctr"/>
          <a:lstStyle>
            <a:defPPr>
              <a:defRPr kern="1200"/>
            </a:defPPr>
          </a:lstStyle>
          <a:p>
            <a:pPr defTabSz="4703763"/>
            <a:endParaRPr lang="en-US">
              <a:solidFill>
                <a:schemeClr val="bg1"/>
              </a:solidFill>
              <a:sym typeface="Symbol" pitchFamily="18" charset="2"/>
            </a:endParaRPr>
          </a:p>
        </p:txBody>
      </p:sp>
      <p:sp>
        <p:nvSpPr>
          <p:cNvPr id="31" name="Title 11">
            <a:extLst>
              <a:ext uri="{FF2B5EF4-FFF2-40B4-BE49-F238E27FC236}">
                <a16:creationId xmlns:a16="http://schemas.microsoft.com/office/drawing/2014/main" id="{A3F6428D-1FA6-42BA-BAEA-3577E1620F6B}"/>
              </a:ext>
            </a:extLst>
          </p:cNvPr>
          <p:cNvSpPr txBox="1"/>
          <p:nvPr/>
        </p:nvSpPr>
        <p:spPr>
          <a:xfrm>
            <a:off x="1005840" y="792385"/>
            <a:ext cx="29664660" cy="2746935"/>
          </a:xfrm>
          <a:prstGeom prst="rect">
            <a:avLst/>
          </a:prstGeom>
        </p:spPr>
        <p:txBody>
          <a:bodyPr lIns="128016" tIns="64008" rIns="128016" bIns="64008"/>
          <a:lstStyle>
            <a:defPPr>
              <a:defRPr kern="1200"/>
            </a:defPPr>
            <a:lvl1pPr algn="ctr" defTabSz="4389028" rtl="0" eaLnBrk="1" latinLnBrk="0" hangingPunct="1">
              <a:spcBef>
                <a:spcPct val="0"/>
              </a:spcBef>
              <a:buNone/>
              <a:defRPr sz="13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9600" dirty="0">
                <a:solidFill>
                  <a:schemeClr val="bg1"/>
                </a:solidFill>
                <a:latin typeface="Amaranth" panose="020B0604020202020204" charset="0"/>
              </a:rPr>
              <a:t>Interactive Analysis of Sentiment Retention under BERT Embedding Compression and Deletion</a:t>
            </a:r>
          </a:p>
        </p:txBody>
      </p:sp>
      <p:sp>
        <p:nvSpPr>
          <p:cNvPr id="35" name="Text Placeholder 16">
            <a:extLst>
              <a:ext uri="{FF2B5EF4-FFF2-40B4-BE49-F238E27FC236}">
                <a16:creationId xmlns:a16="http://schemas.microsoft.com/office/drawing/2014/main" id="{30C08963-BE29-4B96-B122-F15F02A3F7E3}"/>
              </a:ext>
            </a:extLst>
          </p:cNvPr>
          <p:cNvSpPr txBox="1"/>
          <p:nvPr/>
        </p:nvSpPr>
        <p:spPr>
          <a:xfrm>
            <a:off x="1005840" y="3778048"/>
            <a:ext cx="41148000" cy="2025170"/>
          </a:xfrm>
          <a:prstGeom prst="rect">
            <a:avLst/>
          </a:prstGeom>
        </p:spPr>
        <p:txBody>
          <a:bodyPr lIns="128016" tIns="64008" rIns="128016" bIns="64008">
            <a:spAutoFit/>
          </a:bodyPr>
          <a:lstStyle>
            <a:defPPr>
              <a:defRPr kern="1200"/>
            </a:defPPr>
            <a:lvl1pPr marL="0" indent="0" algn="l" defTabSz="4389028" rtl="0" eaLnBrk="1" latinLnBrk="0" hangingPunct="1">
              <a:spcBef>
                <a:spcPct val="20000"/>
              </a:spcBef>
              <a:buFont typeface="Arial" pitchFamily="34" charset="0"/>
              <a:buNone/>
              <a:defRPr sz="13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086" indent="-1371572" algn="l" defTabSz="438902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286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800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314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9828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342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857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371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600" dirty="0">
                <a:solidFill>
                  <a:schemeClr val="bg1"/>
                </a:solidFill>
                <a:latin typeface="Titillium Web" panose="00000500000000000000" pitchFamily="2" charset="0"/>
              </a:rPr>
              <a:t>Dylan OBrien (obriend7@wit.edu)</a:t>
            </a:r>
          </a:p>
          <a:p>
            <a:r>
              <a:rPr lang="en-US" sz="5600" dirty="0">
                <a:solidFill>
                  <a:schemeClr val="bg1"/>
                </a:solidFill>
                <a:latin typeface="Titillium Web" panose="00000500000000000000" pitchFamily="2" charset="0"/>
              </a:rPr>
              <a:t>Wentworth Institute of Technology, School of Computing and Data Science, Boston, Massachusetts </a:t>
            </a: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620C51D2-3423-4C6C-A077-34B27F321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" y="20255282"/>
            <a:ext cx="10058400" cy="1140452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274320" tIns="68580" rIns="274320" bIns="68580" anchor="ctr"/>
          <a:lstStyle>
            <a:defPPr>
              <a:defRPr kern="1200"/>
            </a:defPPr>
          </a:lstStyle>
          <a:p>
            <a:pPr defTabSz="4703763"/>
            <a:r>
              <a:rPr lang="en-US" sz="5400" dirty="0">
                <a:solidFill>
                  <a:schemeClr val="bg1"/>
                </a:solidFill>
                <a:latin typeface="Amaranth" panose="02000503050000020004" pitchFamily="2" charset="0"/>
              </a:rPr>
              <a:t>Dataset</a:t>
            </a:r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88133C58-052D-4585-823B-31740DB45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257" y="7479216"/>
            <a:ext cx="9144000" cy="7842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137160" tIns="68580" rIns="137160" bIns="68580" anchor="ctr"/>
          <a:lstStyle>
            <a:defPPr>
              <a:defRPr kern="1200"/>
            </a:defPPr>
          </a:lstStyle>
          <a:p>
            <a:pPr defTabSz="4703763"/>
            <a:r>
              <a:rPr lang="en-US" sz="5400" dirty="0">
                <a:solidFill>
                  <a:srgbClr val="235078"/>
                </a:solidFill>
                <a:latin typeface="Amaranth" panose="02000503050000020004" pitchFamily="2" charset="0"/>
              </a:rPr>
              <a:t>Problem and Motivation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0B336B2-61FF-96E6-B8B7-EB3195E56A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6082" y="4661282"/>
            <a:ext cx="7710417" cy="2346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5">
            <a:extLst>
              <a:ext uri="{FF2B5EF4-FFF2-40B4-BE49-F238E27FC236}">
                <a16:creationId xmlns:a16="http://schemas.microsoft.com/office/drawing/2014/main" id="{B3770CD7-E436-465C-FB73-0AD81BFC0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4867" y="7113695"/>
            <a:ext cx="10058400" cy="1140452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274320" tIns="68580" rIns="274320" bIns="68580" anchor="ctr"/>
          <a:lstStyle>
            <a:defPPr>
              <a:defRPr kern="1200"/>
            </a:defPPr>
          </a:lstStyle>
          <a:p>
            <a:pPr defTabSz="4703763"/>
            <a:r>
              <a:rPr lang="en-US" sz="5400" dirty="0">
                <a:solidFill>
                  <a:schemeClr val="bg1"/>
                </a:solidFill>
                <a:latin typeface="Amaranth" panose="02000503050000020004" pitchFamily="2" charset="0"/>
              </a:rPr>
              <a:t>Methodology</a:t>
            </a:r>
          </a:p>
        </p:txBody>
      </p:sp>
      <p:sp>
        <p:nvSpPr>
          <p:cNvPr id="11" name="Text Box 6">
            <a:extLst>
              <a:ext uri="{FF2B5EF4-FFF2-40B4-BE49-F238E27FC236}">
                <a16:creationId xmlns:a16="http://schemas.microsoft.com/office/drawing/2014/main" id="{58CBAE3C-0A30-90BF-9D74-1150CA286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19" y="21577879"/>
            <a:ext cx="10058400" cy="8325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37160" tIns="68580" rIns="137160" bIns="68580">
            <a:spAutoFit/>
          </a:bodyPr>
          <a:lstStyle>
            <a:defPPr>
              <a:defRPr kern="1200"/>
            </a:defPPr>
            <a:lvl1pPr defTabSz="4703763" eaLnBrk="0" hangingPunct="0">
              <a:defRPr sz="9300">
                <a:solidFill>
                  <a:schemeClr val="tx1"/>
                </a:solidFill>
                <a:latin typeface="Arial"/>
              </a:defRPr>
            </a:lvl1pPr>
            <a:lvl2pPr marL="742950" indent="-28575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2pPr>
            <a:lvl3pPr marL="11430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3pPr>
            <a:lvl4pPr marL="16002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4pPr>
            <a:lvl5pPr marL="20574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5pPr>
            <a:lvl6pPr marL="25146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6pPr>
            <a:lvl7pPr marL="29718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7pPr>
            <a:lvl8pPr marL="34290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8pPr>
            <a:lvl9pPr marL="38862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9pPr>
          </a:lstStyle>
          <a:p>
            <a:r>
              <a:rPr lang="en-US" sz="2800" u="sng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Source: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IMDb 50K Movie Reviews dataset (standard binary sentiment benchmark).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  <a:hlinkClick r:id="rId3"/>
              </a:rPr>
              <a:t>https://www.kaggle.com/datasets/lakshmi25npathi/imdb-dataset-of-50k-movie-reviews</a:t>
            </a:r>
            <a:r>
              <a:rPr lang="en-US" sz="28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endParaRPr lang="en-US" sz="28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800" u="sng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Size: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50,000 labeled reviews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25,000 positive, 25,000 negative</a:t>
            </a:r>
          </a:p>
          <a:p>
            <a:endParaRPr lang="en-US" sz="28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800" u="sng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Splits used in this project: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Train:</a:t>
            </a:r>
            <a:r>
              <a:rPr lang="en-US" sz="28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20k reviews → further split into train/validation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Validation:</a:t>
            </a:r>
            <a:r>
              <a:rPr lang="en-US" sz="28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5k reviews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Test:</a:t>
            </a:r>
            <a:r>
              <a:rPr lang="en-US" sz="28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5k reviews, held-out for final evaluation</a:t>
            </a:r>
          </a:p>
          <a:p>
            <a:endParaRPr lang="en-US" sz="2800" u="sng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800" u="sng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Properties: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Reviews are free-form English text with varied length and style.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Test set contains no overlap in movies with the training set.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4468B8C2-DE06-2C28-7DC3-F300CCE15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4867" y="8572126"/>
            <a:ext cx="10058400" cy="573901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wrap="none" lIns="274320" tIns="68580" rIns="274320" bIns="68580" anchor="ctr"/>
          <a:lstStyle>
            <a:defPPr>
              <a:defRPr kern="1200"/>
            </a:defPPr>
          </a:lstStyle>
          <a:p>
            <a:pPr algn="ctr" defTabSz="4703763"/>
            <a:r>
              <a:rPr lang="en-US" sz="3600" dirty="0">
                <a:solidFill>
                  <a:schemeClr val="bg1"/>
                </a:solidFill>
                <a:latin typeface="Amaranth" panose="02000503050000020004" pitchFamily="2" charset="0"/>
              </a:rPr>
              <a:t>System Overview</a:t>
            </a: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90254BE0-542F-B005-9F8D-0DD3F3531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64867" y="9464006"/>
            <a:ext cx="10058400" cy="6063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37160" tIns="68580" rIns="137160" bIns="68580">
            <a:spAutoFit/>
          </a:bodyPr>
          <a:lstStyle>
            <a:defPPr>
              <a:defRPr kern="1200"/>
            </a:defPPr>
            <a:lvl1pPr defTabSz="4703763" eaLnBrk="0" hangingPunct="0">
              <a:defRPr sz="9300">
                <a:solidFill>
                  <a:schemeClr val="tx1"/>
                </a:solidFill>
                <a:latin typeface="Arial"/>
              </a:defRPr>
            </a:lvl1pPr>
            <a:lvl2pPr marL="742950" indent="-28575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2pPr>
            <a:lvl3pPr marL="11430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3pPr>
            <a:lvl4pPr marL="16002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4pPr>
            <a:lvl5pPr marL="20574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5pPr>
            <a:lvl6pPr marL="25146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6pPr>
            <a:lvl7pPr marL="29718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7pPr>
            <a:lvl8pPr marL="34290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8pPr>
            <a:lvl9pPr marL="38862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9pPr>
          </a:lstStyle>
          <a:p>
            <a:r>
              <a:rPr lang="en-US" sz="2400" u="sng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Input: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Raw IMDb review text.</a:t>
            </a:r>
          </a:p>
          <a:p>
            <a:r>
              <a:rPr lang="en-US" sz="2400" u="sng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Encoder: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Pre-trained </a:t>
            </a:r>
            <a:r>
              <a:rPr lang="en-US" sz="2400" b="1" i="1" dirty="0" err="1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bert</a:t>
            </a:r>
            <a:r>
              <a:rPr lang="en-US" sz="2400" b="1" i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-base-uncased</a:t>
            </a: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(Hugging Face Transformers).</a:t>
            </a:r>
          </a:p>
          <a:p>
            <a:r>
              <a:rPr lang="en-US" sz="2400" u="sng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Sentence representation: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Use the final-layer </a:t>
            </a:r>
            <a:r>
              <a:rPr lang="en-US" sz="2400" b="1" i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[CLS] </a:t>
            </a: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token as a 768-dimensional embedding.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BERT is frozen (no fine-tuning) → acts as a </a:t>
            </a:r>
            <a:r>
              <a:rPr lang="en-US" sz="24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feature extractor</a:t>
            </a: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sz="2400" u="sng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400" u="sng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Compression stage: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PCA-based compression </a:t>
            </a: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in embedding space.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IDF-based minimal deletion </a:t>
            </a: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in input space.</a:t>
            </a:r>
          </a:p>
          <a:p>
            <a:r>
              <a:rPr lang="en-US" sz="2400" u="sng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Classifier: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Logistic Regression </a:t>
            </a: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trained on BERT embeddings.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Same classifier architecture used for full and compressed representations</a:t>
            </a:r>
          </a:p>
          <a:p>
            <a:endParaRPr lang="en-US" sz="28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r>
              <a:rPr lang="en-US" sz="2100" b="1" dirty="0">
                <a:solidFill>
                  <a:srgbClr val="FF0000"/>
                </a:solidFill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Text → BERT → Embedding → (PCA/Deletion) → Logistic Regression → Sentiment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6DAC2654-E2A3-5291-D180-1CFB02368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4867" y="15854752"/>
            <a:ext cx="10058400" cy="573901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wrap="none" lIns="274320" tIns="68580" rIns="274320" bIns="68580" anchor="ctr"/>
          <a:lstStyle>
            <a:defPPr>
              <a:defRPr kern="1200"/>
            </a:defPPr>
          </a:lstStyle>
          <a:p>
            <a:pPr algn="ctr" defTabSz="4703763"/>
            <a:r>
              <a:rPr lang="en-US" sz="3600" dirty="0">
                <a:solidFill>
                  <a:schemeClr val="bg1"/>
                </a:solidFill>
                <a:latin typeface="Amaranth" panose="02000503050000020004" pitchFamily="2" charset="0"/>
              </a:rPr>
              <a:t>Compression Strategies</a:t>
            </a:r>
          </a:p>
        </p:txBody>
      </p:sp>
      <p:sp>
        <p:nvSpPr>
          <p:cNvPr id="15" name="Text Box 6">
            <a:extLst>
              <a:ext uri="{FF2B5EF4-FFF2-40B4-BE49-F238E27FC236}">
                <a16:creationId xmlns:a16="http://schemas.microsoft.com/office/drawing/2014/main" id="{25E86DE5-8855-4A57-7311-871B0586A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64867" y="16743230"/>
            <a:ext cx="10058400" cy="7155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37160" tIns="68580" rIns="137160" bIns="68580">
            <a:spAutoFit/>
          </a:bodyPr>
          <a:lstStyle>
            <a:defPPr>
              <a:defRPr kern="1200"/>
            </a:defPPr>
            <a:lvl1pPr defTabSz="4703763" eaLnBrk="0" hangingPunct="0">
              <a:defRPr sz="9300">
                <a:solidFill>
                  <a:schemeClr val="tx1"/>
                </a:solidFill>
                <a:latin typeface="Arial"/>
              </a:defRPr>
            </a:lvl1pPr>
            <a:lvl2pPr marL="742950" indent="-28575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2pPr>
            <a:lvl3pPr marL="11430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3pPr>
            <a:lvl4pPr marL="16002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4pPr>
            <a:lvl5pPr marL="20574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5pPr>
            <a:lvl6pPr marL="25146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6pPr>
            <a:lvl7pPr marL="29718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7pPr>
            <a:lvl8pPr marL="34290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8pPr>
            <a:lvl9pPr marL="38862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9pPr>
          </a:lstStyle>
          <a:p>
            <a:pPr algn="ctr"/>
            <a:r>
              <a:rPr lang="en-US" sz="2400" b="1" u="sng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PCA Embedding Compression</a:t>
            </a:r>
          </a:p>
          <a:p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Train </a:t>
            </a:r>
            <a:r>
              <a:rPr lang="en-US" sz="2400" dirty="0">
                <a:solidFill>
                  <a:srgbClr val="FF0000"/>
                </a:solidFill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Principal Component Analysis (PCA) </a:t>
            </a: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on training embeddings.</a:t>
            </a:r>
          </a:p>
          <a:p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Test multiple target dimensions: </a:t>
            </a:r>
            <a:r>
              <a:rPr lang="en-US" sz="24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𝑘=16,32,64,128,256</a:t>
            </a:r>
          </a:p>
          <a:p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For each embedding: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Project to </a:t>
            </a:r>
            <a:r>
              <a:rPr lang="en-US" sz="24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k-dimensional</a:t>
            </a: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space and </a:t>
            </a:r>
            <a:r>
              <a:rPr lang="en-US" sz="24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reconstruct</a:t>
            </a: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back to 768-dim.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Feed reconstructed embeddings into the </a:t>
            </a:r>
            <a:r>
              <a:rPr lang="en-US" sz="24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same logistic regression classifier.</a:t>
            </a:r>
          </a:p>
          <a:p>
            <a:r>
              <a:rPr lang="en-US" sz="2400" b="1" u="sng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Goal:</a:t>
            </a:r>
            <a:r>
              <a:rPr lang="en-US" sz="24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Reduce embedding dimensionality while keeping sentiment information intact.</a:t>
            </a:r>
          </a:p>
          <a:p>
            <a:endParaRPr lang="en-US" sz="24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r>
              <a:rPr lang="en-US" sz="2400" b="1" u="sng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IDF-Based Token Deletion</a:t>
            </a:r>
          </a:p>
          <a:p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Compute </a:t>
            </a:r>
            <a:r>
              <a:rPr lang="en-US" sz="2400" dirty="0">
                <a:solidFill>
                  <a:srgbClr val="FF0000"/>
                </a:solidFill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inverse document frequency (IDF)</a:t>
            </a: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for tokens over the training set.</a:t>
            </a:r>
          </a:p>
          <a:p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For each review: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Rank tokens by </a:t>
            </a:r>
            <a:r>
              <a:rPr lang="en-US" sz="24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IDF score </a:t>
            </a: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(higher IDF = rarer, more informative).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Keep only the top tokens according to a </a:t>
            </a:r>
            <a:r>
              <a:rPr lang="en-US" sz="24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keep ratio 𝑟</a:t>
            </a: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Keep ratios explored: </a:t>
            </a:r>
            <a:r>
              <a:rPr lang="en-US" sz="24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𝑟=1.0,0.75,0.5,0.25 </a:t>
            </a: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(and others).</a:t>
            </a:r>
          </a:p>
          <a:p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Reassemble the shortened review and re-encode with BERT.</a:t>
            </a:r>
          </a:p>
          <a:p>
            <a:r>
              <a:rPr lang="en-US" sz="2400" b="1" u="sng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Effect:</a:t>
            </a:r>
            <a:r>
              <a:rPr lang="en-US" sz="24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Shorter input, potentially less context, but faster / smaller overall system.</a:t>
            </a: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39450A0A-8011-B43F-4CD0-5B27849131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2923" y="23899035"/>
            <a:ext cx="8762287" cy="6568933"/>
          </a:xfrm>
          <a:prstGeom prst="rect">
            <a:avLst/>
          </a:prstGeom>
          <a:noFill/>
          <a:ln w="571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9491700D-10D3-676E-8F7A-C2C396CF5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83073" y="7113695"/>
            <a:ext cx="10058400" cy="1140452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274320" tIns="68580" rIns="274320" bIns="68580" anchor="ctr"/>
          <a:lstStyle>
            <a:defPPr>
              <a:defRPr kern="1200"/>
            </a:defPPr>
          </a:lstStyle>
          <a:p>
            <a:pPr defTabSz="4703763"/>
            <a:r>
              <a:rPr lang="en-US" sz="5400" dirty="0">
                <a:solidFill>
                  <a:schemeClr val="bg1"/>
                </a:solidFill>
                <a:latin typeface="Amaranth" panose="02000503050000020004" pitchFamily="2" charset="0"/>
              </a:rPr>
              <a:t>Results</a:t>
            </a:r>
          </a:p>
        </p:txBody>
      </p:sp>
      <p:sp>
        <p:nvSpPr>
          <p:cNvPr id="20" name="Text Box 6">
            <a:extLst>
              <a:ext uri="{FF2B5EF4-FFF2-40B4-BE49-F238E27FC236}">
                <a16:creationId xmlns:a16="http://schemas.microsoft.com/office/drawing/2014/main" id="{CDFAF605-63B7-62E0-8B62-2723ABB2B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64866" y="30580591"/>
            <a:ext cx="10058400" cy="754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37160" tIns="68580" rIns="137160" bIns="68580">
            <a:spAutoFit/>
          </a:bodyPr>
          <a:lstStyle>
            <a:defPPr>
              <a:defRPr kern="1200"/>
            </a:defPPr>
            <a:lvl1pPr defTabSz="4703763" eaLnBrk="0" hangingPunct="0">
              <a:defRPr sz="9300">
                <a:solidFill>
                  <a:schemeClr val="tx1"/>
                </a:solidFill>
                <a:latin typeface="Arial"/>
              </a:defRPr>
            </a:lvl1pPr>
            <a:lvl2pPr marL="742950" indent="-28575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2pPr>
            <a:lvl3pPr marL="11430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3pPr>
            <a:lvl4pPr marL="16002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4pPr>
            <a:lvl5pPr marL="20574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5pPr>
            <a:lvl6pPr marL="25146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6pPr>
            <a:lvl7pPr marL="29718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7pPr>
            <a:lvl8pPr marL="34290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8pPr>
            <a:lvl9pPr marL="38862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9pPr>
          </a:lstStyle>
          <a:p>
            <a:pPr algn="ctr"/>
            <a:r>
              <a:rPr lang="en-US" sz="2000" b="1" u="sng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Macro-averaged F1 </a:t>
            </a:r>
            <a:r>
              <a:rPr lang="en-US" sz="20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– balances performance on positive and negative classes.</a:t>
            </a:r>
          </a:p>
          <a:p>
            <a:pPr algn="ctr"/>
            <a:r>
              <a:rPr lang="en-US" sz="2000" b="1" u="sng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Mean cosine similarity </a:t>
            </a:r>
            <a:r>
              <a:rPr lang="en-US" sz="20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– how close compressed embeddings are to original ones.</a:t>
            </a:r>
          </a:p>
        </p:txBody>
      </p:sp>
      <p:sp>
        <p:nvSpPr>
          <p:cNvPr id="23" name="Rectangle 5">
            <a:extLst>
              <a:ext uri="{FF2B5EF4-FFF2-40B4-BE49-F238E27FC236}">
                <a16:creationId xmlns:a16="http://schemas.microsoft.com/office/drawing/2014/main" id="{6457ADCA-4CFD-4CDE-9430-AC1DBB949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63307" y="13306796"/>
            <a:ext cx="10058400" cy="1140452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274320" tIns="68580" rIns="274320" bIns="68580" anchor="ctr"/>
          <a:lstStyle>
            <a:defPPr>
              <a:defRPr kern="1200"/>
            </a:defPPr>
          </a:lstStyle>
          <a:p>
            <a:pPr defTabSz="4703763"/>
            <a:r>
              <a:rPr lang="en-US" sz="4000" dirty="0">
                <a:solidFill>
                  <a:schemeClr val="bg1"/>
                </a:solidFill>
                <a:latin typeface="Amaranth" panose="02000503050000020004" pitchFamily="2" charset="0"/>
              </a:rPr>
              <a:t>Conclusions, Limitations, and Future Work</a:t>
            </a: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559211BA-0D31-E314-009B-393AA710E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63307" y="14753670"/>
            <a:ext cx="10058400" cy="573901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wrap="none" lIns="274320" tIns="68580" rIns="274320" bIns="68580" anchor="ctr"/>
          <a:lstStyle>
            <a:defPPr>
              <a:defRPr kern="1200"/>
            </a:defPPr>
          </a:lstStyle>
          <a:p>
            <a:pPr algn="ctr" defTabSz="4703763"/>
            <a:r>
              <a:rPr lang="en-US" sz="3600" dirty="0">
                <a:solidFill>
                  <a:schemeClr val="bg1"/>
                </a:solidFill>
                <a:latin typeface="Amaranth" panose="02000503050000020004" pitchFamily="2" charset="0"/>
              </a:rPr>
              <a:t>Key Insights</a:t>
            </a:r>
          </a:p>
        </p:txBody>
      </p:sp>
      <p:sp>
        <p:nvSpPr>
          <p:cNvPr id="25" name="Text Box 6">
            <a:extLst>
              <a:ext uri="{FF2B5EF4-FFF2-40B4-BE49-F238E27FC236}">
                <a16:creationId xmlns:a16="http://schemas.microsoft.com/office/drawing/2014/main" id="{CFFFBAEC-EDFF-7181-9302-45CDED012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63307" y="15645550"/>
            <a:ext cx="10058400" cy="3462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37160" tIns="68580" rIns="137160" bIns="68580">
            <a:spAutoFit/>
          </a:bodyPr>
          <a:lstStyle>
            <a:defPPr>
              <a:defRPr kern="1200"/>
            </a:defPPr>
            <a:lvl1pPr defTabSz="4703763" eaLnBrk="0" hangingPunct="0">
              <a:defRPr sz="9300">
                <a:solidFill>
                  <a:schemeClr val="tx1"/>
                </a:solidFill>
                <a:latin typeface="Arial"/>
              </a:defRPr>
            </a:lvl1pPr>
            <a:lvl2pPr marL="742950" indent="-28575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2pPr>
            <a:lvl3pPr marL="11430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3pPr>
            <a:lvl4pPr marL="16002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4pPr>
            <a:lvl5pPr marL="20574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5pPr>
            <a:lvl6pPr marL="25146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6pPr>
            <a:lvl7pPr marL="29718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7pPr>
            <a:lvl8pPr marL="34290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8pPr>
            <a:lvl9pPr marL="38862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9pPr>
          </a:lstStyle>
          <a:p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BERT embeddings for sentiment are </a:t>
            </a:r>
            <a:r>
              <a:rPr lang="en-US" sz="24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highly redundant</a:t>
            </a: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Significant dimensionality reduction via PCA is possible before performance collapses.</a:t>
            </a:r>
          </a:p>
          <a:p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Embedding-space compression (PCA) is generally </a:t>
            </a:r>
            <a:r>
              <a:rPr lang="en-US" sz="24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safer</a:t>
            </a: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than input-space deletion: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PCA preserves structure while shrinking representation size.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Deletion can remove critical negation, intensifiers, or context.</a:t>
            </a:r>
          </a:p>
          <a:p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Interactivity helps users </a:t>
            </a:r>
            <a:r>
              <a:rPr lang="en-US" sz="24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understand and trust model </a:t>
            </a: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behavior under compression.</a:t>
            </a:r>
          </a:p>
        </p:txBody>
      </p:sp>
      <p:sp>
        <p:nvSpPr>
          <p:cNvPr id="26" name="Rectangle 5">
            <a:extLst>
              <a:ext uri="{FF2B5EF4-FFF2-40B4-BE49-F238E27FC236}">
                <a16:creationId xmlns:a16="http://schemas.microsoft.com/office/drawing/2014/main" id="{410FF012-0011-AE0A-F450-A663187CF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63307" y="19425009"/>
            <a:ext cx="10058400" cy="573901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wrap="none" lIns="274320" tIns="68580" rIns="274320" bIns="68580" anchor="ctr"/>
          <a:lstStyle>
            <a:defPPr>
              <a:defRPr kern="1200"/>
            </a:defPPr>
          </a:lstStyle>
          <a:p>
            <a:pPr algn="ctr" defTabSz="4703763"/>
            <a:r>
              <a:rPr lang="en-US" sz="3600" dirty="0">
                <a:solidFill>
                  <a:schemeClr val="bg1"/>
                </a:solidFill>
                <a:latin typeface="Amaranth" panose="02000503050000020004" pitchFamily="2" charset="0"/>
              </a:rPr>
              <a:t>Limitations</a:t>
            </a:r>
          </a:p>
        </p:txBody>
      </p:sp>
      <p:sp>
        <p:nvSpPr>
          <p:cNvPr id="27" name="Text Box 6">
            <a:extLst>
              <a:ext uri="{FF2B5EF4-FFF2-40B4-BE49-F238E27FC236}">
                <a16:creationId xmlns:a16="http://schemas.microsoft.com/office/drawing/2014/main" id="{B2DA38D7-F884-E2A6-A458-44717D64C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63307" y="20316889"/>
            <a:ext cx="10058400" cy="2723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37160" tIns="68580" rIns="137160" bIns="68580">
            <a:spAutoFit/>
          </a:bodyPr>
          <a:lstStyle>
            <a:defPPr>
              <a:defRPr kern="1200"/>
            </a:defPPr>
            <a:lvl1pPr defTabSz="4703763" eaLnBrk="0" hangingPunct="0">
              <a:defRPr sz="9300">
                <a:solidFill>
                  <a:schemeClr val="tx1"/>
                </a:solidFill>
                <a:latin typeface="Arial"/>
              </a:defRPr>
            </a:lvl1pPr>
            <a:lvl2pPr marL="742950" indent="-28575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2pPr>
            <a:lvl3pPr marL="11430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3pPr>
            <a:lvl4pPr marL="16002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4pPr>
            <a:lvl5pPr marL="20574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5pPr>
            <a:lvl6pPr marL="25146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6pPr>
            <a:lvl7pPr marL="29718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7pPr>
            <a:lvl8pPr marL="34290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8pPr>
            <a:lvl9pPr marL="38862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9pPr>
          </a:lstStyle>
          <a:p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Single dataset: IMDb, English movie reviews.</a:t>
            </a:r>
          </a:p>
          <a:p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Encoder is frozen (no fine-tuning); results may differ for fully fine-tuned transformers.</a:t>
            </a:r>
          </a:p>
          <a:p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Only </a:t>
            </a:r>
            <a:r>
              <a:rPr lang="en-US" sz="24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two</a:t>
            </a: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compression strategies explored: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PCA in embedding space.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Static IDF-based deletion in input space.</a:t>
            </a:r>
          </a:p>
          <a:p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Human evaluation is </a:t>
            </a:r>
            <a:r>
              <a:rPr lang="en-US" sz="24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qualitative</a:t>
            </a: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via GUI usage, not a controlled user study.</a:t>
            </a:r>
          </a:p>
        </p:txBody>
      </p:sp>
      <p:sp>
        <p:nvSpPr>
          <p:cNvPr id="28" name="Rectangle 5">
            <a:extLst>
              <a:ext uri="{FF2B5EF4-FFF2-40B4-BE49-F238E27FC236}">
                <a16:creationId xmlns:a16="http://schemas.microsoft.com/office/drawing/2014/main" id="{A3819130-9B99-19EE-7429-60C1B5D51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63307" y="23353287"/>
            <a:ext cx="10058400" cy="573901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wrap="none" lIns="274320" tIns="68580" rIns="274320" bIns="68580" anchor="ctr"/>
          <a:lstStyle>
            <a:defPPr>
              <a:defRPr kern="1200"/>
            </a:defPPr>
          </a:lstStyle>
          <a:p>
            <a:pPr algn="ctr" defTabSz="4703763"/>
            <a:r>
              <a:rPr lang="en-US" sz="3600" dirty="0">
                <a:solidFill>
                  <a:schemeClr val="bg1"/>
                </a:solidFill>
                <a:latin typeface="Amaranth" panose="02000503050000020004" pitchFamily="2" charset="0"/>
              </a:rPr>
              <a:t>Future Work</a:t>
            </a:r>
          </a:p>
        </p:txBody>
      </p:sp>
      <p:sp>
        <p:nvSpPr>
          <p:cNvPr id="29" name="Text Box 6">
            <a:extLst>
              <a:ext uri="{FF2B5EF4-FFF2-40B4-BE49-F238E27FC236}">
                <a16:creationId xmlns:a16="http://schemas.microsoft.com/office/drawing/2014/main" id="{5A411AA6-8B4C-CE88-041A-9D3F7036FA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63307" y="24245167"/>
            <a:ext cx="10058400" cy="3462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37160" tIns="68580" rIns="137160" bIns="68580">
            <a:spAutoFit/>
          </a:bodyPr>
          <a:lstStyle>
            <a:defPPr>
              <a:defRPr kern="1200"/>
            </a:defPPr>
            <a:lvl1pPr defTabSz="4703763" eaLnBrk="0" hangingPunct="0">
              <a:defRPr sz="9300">
                <a:solidFill>
                  <a:schemeClr val="tx1"/>
                </a:solidFill>
                <a:latin typeface="Arial"/>
              </a:defRPr>
            </a:lvl1pPr>
            <a:lvl2pPr marL="742950" indent="-28575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2pPr>
            <a:lvl3pPr marL="11430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3pPr>
            <a:lvl4pPr marL="16002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4pPr>
            <a:lvl5pPr marL="20574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5pPr>
            <a:lvl6pPr marL="25146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6pPr>
            <a:lvl7pPr marL="29718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7pPr>
            <a:lvl8pPr marL="34290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8pPr>
            <a:lvl9pPr marL="38862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9pPr>
          </a:lstStyle>
          <a:p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Investigate learned </a:t>
            </a:r>
            <a:r>
              <a:rPr lang="en-US" sz="24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token pruning</a:t>
            </a: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24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knowledge distillation</a:t>
            </a: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, and </a:t>
            </a:r>
            <a:r>
              <a:rPr lang="en-US" sz="24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quantization</a:t>
            </a: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for more advanced compression.</a:t>
            </a:r>
          </a:p>
          <a:p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Extend framework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Other domains </a:t>
            </a: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(e.g. social media, product reviews, multi-lingual data, larger texts).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Aspect-based sentiment analysis </a:t>
            </a: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and other NLP tasks.</a:t>
            </a:r>
          </a:p>
          <a:p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Conduct user studies 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Perceived quality, fairness, and trust in compressed sentiment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How interactive tools influence model understanding.</a:t>
            </a:r>
          </a:p>
        </p:txBody>
      </p:sp>
      <p:pic>
        <p:nvPicPr>
          <p:cNvPr id="40" name="Picture 39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4891D127-4138-27D6-CCF6-9C1F040CA6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73974" y="972429"/>
            <a:ext cx="3914632" cy="391463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C5E71A4B-E5B8-317F-C111-B70BA77E3FD6}"/>
              </a:ext>
            </a:extLst>
          </p:cNvPr>
          <p:cNvSpPr txBox="1"/>
          <p:nvPr/>
        </p:nvSpPr>
        <p:spPr>
          <a:xfrm>
            <a:off x="36252150" y="167108"/>
            <a:ext cx="75699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itillium Web" panose="00000500000000000000" pitchFamily="2" charset="0"/>
              </a:rPr>
              <a:t>Link to Project: </a:t>
            </a:r>
            <a:r>
              <a:rPr lang="en-US" sz="2000" b="1" dirty="0">
                <a:solidFill>
                  <a:schemeClr val="bg1"/>
                </a:solidFill>
                <a:latin typeface="Titillium Web" panose="00000500000000000000" pitchFamily="2" charset="0"/>
                <a:hlinkClick r:id="rId6"/>
              </a:rPr>
              <a:t>https://github.com/obriend7atwit/NLP_Project_Dylan_OBrien.git</a:t>
            </a:r>
            <a:r>
              <a:rPr lang="en-US" sz="2000" b="1" dirty="0">
                <a:solidFill>
                  <a:schemeClr val="bg1"/>
                </a:solidFill>
                <a:latin typeface="Titillium Web" panose="00000500000000000000" pitchFamily="2" charset="0"/>
              </a:rPr>
              <a:t> </a:t>
            </a:r>
          </a:p>
        </p:txBody>
      </p:sp>
      <p:pic>
        <p:nvPicPr>
          <p:cNvPr id="44" name="Picture 4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543DAF8-5E9C-A089-92C5-FDE1559F17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81854" y="18186331"/>
            <a:ext cx="10058400" cy="3643570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sp>
        <p:nvSpPr>
          <p:cNvPr id="45" name="Rectangle 5">
            <a:extLst>
              <a:ext uri="{FF2B5EF4-FFF2-40B4-BE49-F238E27FC236}">
                <a16:creationId xmlns:a16="http://schemas.microsoft.com/office/drawing/2014/main" id="{CE92EF50-1040-902C-F763-1004CD3F8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83073" y="8608837"/>
            <a:ext cx="10058400" cy="573901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wrap="none" lIns="274320" tIns="68580" rIns="274320" bIns="68580" anchor="ctr"/>
          <a:lstStyle>
            <a:defPPr>
              <a:defRPr kern="1200"/>
            </a:defPPr>
          </a:lstStyle>
          <a:p>
            <a:pPr algn="ctr" defTabSz="4703763"/>
            <a:r>
              <a:rPr lang="en-US" sz="3600" dirty="0">
                <a:solidFill>
                  <a:schemeClr val="bg1"/>
                </a:solidFill>
                <a:latin typeface="Amaranth" panose="02000503050000020004" pitchFamily="2" charset="0"/>
              </a:rPr>
              <a:t>Key Results</a:t>
            </a:r>
          </a:p>
        </p:txBody>
      </p:sp>
      <p:sp>
        <p:nvSpPr>
          <p:cNvPr id="47" name="Text Box 6">
            <a:extLst>
              <a:ext uri="{FF2B5EF4-FFF2-40B4-BE49-F238E27FC236}">
                <a16:creationId xmlns:a16="http://schemas.microsoft.com/office/drawing/2014/main" id="{CEEC3482-707E-1745-1B20-E0323155F7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83073" y="9552634"/>
            <a:ext cx="10058400" cy="8263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37160" tIns="68580" rIns="137160" bIns="68580">
            <a:spAutoFit/>
          </a:bodyPr>
          <a:lstStyle>
            <a:defPPr>
              <a:defRPr kern="1200"/>
            </a:defPPr>
            <a:lvl1pPr defTabSz="4703763" eaLnBrk="0" hangingPunct="0">
              <a:defRPr sz="9300">
                <a:solidFill>
                  <a:schemeClr val="tx1"/>
                </a:solidFill>
                <a:latin typeface="Arial"/>
              </a:defRPr>
            </a:lvl1pPr>
            <a:lvl2pPr marL="742950" indent="-28575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2pPr>
            <a:lvl3pPr marL="11430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3pPr>
            <a:lvl4pPr marL="16002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4pPr>
            <a:lvl5pPr marL="20574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5pPr>
            <a:lvl6pPr marL="25146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6pPr>
            <a:lvl7pPr marL="29718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7pPr>
            <a:lvl8pPr marL="34290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8pPr>
            <a:lvl9pPr marL="38862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9pPr>
          </a:lstStyle>
          <a:p>
            <a:r>
              <a:rPr lang="en-US" sz="2400" u="sng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Full BERT baseline: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Strong </a:t>
            </a:r>
            <a:r>
              <a:rPr lang="en-US" sz="24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accuracy</a:t>
            </a: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and </a:t>
            </a:r>
            <a:r>
              <a:rPr lang="en-US" sz="24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macro-F1</a:t>
            </a: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on IMDb.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Serves as </a:t>
            </a:r>
            <a:r>
              <a:rPr lang="en-US" sz="24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upper bound </a:t>
            </a: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for compressed variants.</a:t>
            </a:r>
          </a:p>
          <a:p>
            <a:r>
              <a:rPr lang="en-US" sz="2400" u="sng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PCA compression: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At </a:t>
            </a:r>
            <a:r>
              <a:rPr lang="en-US" sz="24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128–256 dimensions</a:t>
            </a: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, performance remains close to baseline.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Mean cosine similarity stays high, indicating minimal semantic distortion.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At </a:t>
            </a:r>
            <a:r>
              <a:rPr lang="en-US" sz="24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≤ 32 dimensions</a:t>
            </a: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, F1 and similarity drop somewhat, showing over-compression.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CM PCA(256): slight increase in errors but similar pattern to baseline.</a:t>
            </a:r>
          </a:p>
          <a:p>
            <a:r>
              <a:rPr lang="en-US" sz="2400" u="sng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IDF-based deletion: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Keep ratio </a:t>
            </a:r>
            <a:r>
              <a:rPr lang="en-US" sz="24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0.75–1.0</a:t>
            </a: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: modest deletion, small performance loss.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Keep ratio </a:t>
            </a:r>
            <a:r>
              <a:rPr lang="en-US" sz="24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≤ 0.5</a:t>
            </a: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: larger drops in accuracy/F1 as important sentiment cues are removed.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CM Deletion (0.75): more false negatives or false positives when key phrases are removed.</a:t>
            </a:r>
          </a:p>
          <a:p>
            <a:r>
              <a:rPr lang="en-US" sz="2400" u="sng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Main Takeaways: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PCA mainly reduces </a:t>
            </a:r>
            <a:r>
              <a:rPr lang="en-US" sz="24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embedding size</a:t>
            </a: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Deletion mainly reduces </a:t>
            </a:r>
            <a:r>
              <a:rPr lang="en-US" sz="24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text length</a:t>
            </a:r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Approximate disk usage (text bytes + embedding bytes) illustrates different compression benefits.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Confusion matrices highlight how compression changes the types of mistakes, not just the overall score.</a:t>
            </a:r>
          </a:p>
        </p:txBody>
      </p:sp>
      <p:pic>
        <p:nvPicPr>
          <p:cNvPr id="50" name="Picture 49" descr="A graph of a bar graph&#10;&#10;AI-generated content may be incorrect.">
            <a:extLst>
              <a:ext uri="{FF2B5EF4-FFF2-40B4-BE49-F238E27FC236}">
                <a16:creationId xmlns:a16="http://schemas.microsoft.com/office/drawing/2014/main" id="{5F7F28DF-B45B-DFCE-FFC1-7F734EA4182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5539" y="21989754"/>
            <a:ext cx="5524715" cy="443817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</p:pic>
      <p:pic>
        <p:nvPicPr>
          <p:cNvPr id="51" name="Picture 50" descr="A graph of a bar chart&#10;&#10;AI-generated content may be incorrect.">
            <a:extLst>
              <a:ext uri="{FF2B5EF4-FFF2-40B4-BE49-F238E27FC236}">
                <a16:creationId xmlns:a16="http://schemas.microsoft.com/office/drawing/2014/main" id="{2B3932FA-D0C6-5657-07D6-D81A487CA2B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5539" y="26650543"/>
            <a:ext cx="5525934" cy="443817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</p:pic>
      <p:sp>
        <p:nvSpPr>
          <p:cNvPr id="53" name="Rectangle 5">
            <a:extLst>
              <a:ext uri="{FF2B5EF4-FFF2-40B4-BE49-F238E27FC236}">
                <a16:creationId xmlns:a16="http://schemas.microsoft.com/office/drawing/2014/main" id="{D19E2876-80D3-09E5-909D-CA16263A1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63307" y="27917591"/>
            <a:ext cx="10058400" cy="1140452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274320" tIns="68580" rIns="274320" bIns="68580" anchor="ctr"/>
          <a:lstStyle>
            <a:defPPr>
              <a:defRPr kern="1200"/>
            </a:defPPr>
          </a:lstStyle>
          <a:p>
            <a:pPr defTabSz="4703763"/>
            <a:r>
              <a:rPr lang="en-US" sz="5400" dirty="0">
                <a:solidFill>
                  <a:schemeClr val="bg1"/>
                </a:solidFill>
                <a:latin typeface="Amaranth" panose="02000503050000020004" pitchFamily="2" charset="0"/>
              </a:rPr>
              <a:t>References</a:t>
            </a:r>
          </a:p>
        </p:txBody>
      </p:sp>
      <p:sp>
        <p:nvSpPr>
          <p:cNvPr id="56" name="Text Box 6">
            <a:extLst>
              <a:ext uri="{FF2B5EF4-FFF2-40B4-BE49-F238E27FC236}">
                <a16:creationId xmlns:a16="http://schemas.microsoft.com/office/drawing/2014/main" id="{E5109010-CCD7-C606-48D7-1B614CFEE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32294" y="29129061"/>
            <a:ext cx="10058400" cy="2108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37160" tIns="68580" rIns="137160" bIns="68580">
            <a:spAutoFit/>
          </a:bodyPr>
          <a:lstStyle>
            <a:defPPr>
              <a:defRPr kern="1200"/>
            </a:defPPr>
            <a:lvl1pPr defTabSz="4703763" eaLnBrk="0" hangingPunct="0">
              <a:defRPr sz="9300">
                <a:solidFill>
                  <a:schemeClr val="tx1"/>
                </a:solidFill>
                <a:latin typeface="Arial"/>
              </a:defRPr>
            </a:lvl1pPr>
            <a:lvl2pPr marL="742950" indent="-28575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2pPr>
            <a:lvl3pPr marL="11430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3pPr>
            <a:lvl4pPr marL="16002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4pPr>
            <a:lvl5pPr marL="20574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5pPr>
            <a:lvl6pPr marL="25146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6pPr>
            <a:lvl7pPr marL="29718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7pPr>
            <a:lvl8pPr marL="34290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8pPr>
            <a:lvl9pPr marL="38862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9pPr>
          </a:lstStyle>
          <a:p>
            <a:r>
              <a:rPr lang="en-US" sz="16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[1] Devlin et al., “BERT: Pre-training of Deep Bidirectional Transformers for Language Understanding,” NAACL, 2019.</a:t>
            </a:r>
          </a:p>
          <a:p>
            <a:r>
              <a:rPr lang="en-US" sz="16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[2] Wolf et al., “Transformers: State-of-the-art NLP,” EMNLP, 2020.</a:t>
            </a:r>
          </a:p>
          <a:p>
            <a:r>
              <a:rPr lang="en-US" sz="16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[3] Maas et al., “Learning Word Vectors for Sentiment Analysis,” ACL, 2011.</a:t>
            </a:r>
          </a:p>
          <a:p>
            <a:r>
              <a:rPr lang="en-US" sz="16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[4] Huertas-García et al., “Exploring Dimensionality Reduction Techniques in Text Embedding Spaces,” Appl. Sci., 2022.</a:t>
            </a:r>
          </a:p>
          <a:p>
            <a:r>
              <a:rPr lang="en-US" sz="16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[5] Kim et al., “Learned Token Pruning for Transformers,” KDD, 2022.</a:t>
            </a:r>
          </a:p>
          <a:p>
            <a:r>
              <a:rPr lang="en-US" sz="16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[6] Abid et al., “</a:t>
            </a:r>
            <a:r>
              <a:rPr lang="en-US" sz="1600" dirty="0" err="1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Gradio</a:t>
            </a:r>
            <a:r>
              <a:rPr lang="en-US" sz="16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: Hassle-free Sharing and Testing of ML Models in the Wild,” arXiv:1906.02569, 2019.</a:t>
            </a:r>
          </a:p>
        </p:txBody>
      </p:sp>
      <p:sp>
        <p:nvSpPr>
          <p:cNvPr id="57" name="Rectangle 5">
            <a:extLst>
              <a:ext uri="{FF2B5EF4-FFF2-40B4-BE49-F238E27FC236}">
                <a16:creationId xmlns:a16="http://schemas.microsoft.com/office/drawing/2014/main" id="{F69BA6A2-9D4E-4823-CFFB-E21ED9243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01279" y="7120351"/>
            <a:ext cx="10058400" cy="573901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wrap="none" lIns="274320" tIns="68580" rIns="274320" bIns="68580" anchor="ctr"/>
          <a:lstStyle>
            <a:defPPr>
              <a:defRPr kern="1200"/>
            </a:defPPr>
          </a:lstStyle>
          <a:p>
            <a:pPr algn="ctr" defTabSz="4703763"/>
            <a:r>
              <a:rPr lang="en-US" sz="3600" dirty="0">
                <a:solidFill>
                  <a:schemeClr val="bg1"/>
                </a:solidFill>
                <a:latin typeface="Amaranth" panose="02000503050000020004" pitchFamily="2" charset="0"/>
              </a:rPr>
              <a:t>Interactive Demo (</a:t>
            </a:r>
            <a:r>
              <a:rPr lang="en-US" sz="3600" dirty="0" err="1">
                <a:solidFill>
                  <a:schemeClr val="bg1"/>
                </a:solidFill>
                <a:latin typeface="Amaranth" panose="02000503050000020004" pitchFamily="2" charset="0"/>
              </a:rPr>
              <a:t>Gradio</a:t>
            </a:r>
            <a:r>
              <a:rPr lang="en-US" sz="3600" dirty="0">
                <a:solidFill>
                  <a:schemeClr val="bg1"/>
                </a:solidFill>
                <a:latin typeface="Amaranth" panose="02000503050000020004" pitchFamily="2" charset="0"/>
              </a:rPr>
              <a:t>)</a:t>
            </a:r>
          </a:p>
        </p:txBody>
      </p:sp>
      <p:pic>
        <p:nvPicPr>
          <p:cNvPr id="61" name="Picture 6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E1C6B3-170A-CDF9-5794-A353AF77F9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052779" y="8025209"/>
            <a:ext cx="8279455" cy="5024454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E53171-19D4-08A3-C69F-8568496D9B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1854" y="21989754"/>
            <a:ext cx="4386821" cy="9100648"/>
          </a:xfrm>
          <a:prstGeom prst="rect">
            <a:avLst/>
          </a:prstGeom>
          <a:noFill/>
          <a:ln w="571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conceptualizingcobalt|08-2022"/>
</p:tagLst>
</file>

<file path=ppt/theme/theme1.xml><?xml version="1.0" encoding="utf-8"?>
<a:theme xmlns:a="http://schemas.openxmlformats.org/drawingml/2006/main" name="Default Design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Default Desig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702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9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702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9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1387</TotalTime>
  <Words>1038</Words>
  <Application>Microsoft Office PowerPoint</Application>
  <PresentationFormat>Custom</PresentationFormat>
  <Paragraphs>120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Symbol</vt:lpstr>
      <vt:lpstr>Amaranth</vt:lpstr>
      <vt:lpstr>Titillium Web</vt:lpstr>
      <vt:lpstr>Arial</vt:lpstr>
      <vt:lpstr>Default Design</vt:lpstr>
      <vt:lpstr>PowerPoint Presentation</vt:lpstr>
    </vt:vector>
  </TitlesOfParts>
  <Company>Graphicsland/MAKESIGNS.COM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Interactive Analysis of Sentiment Retention under BERT Embedding Compression and Deletion</dc:title>
  <dc:subject>Example Of A Sample Research Poster</dc:subject>
  <dc:creator>Graphicsland/MakeSigns.com</dc:creator>
  <cp:keywords>scientific, research, template, custom, poster, presentation, symposium, printing, PowerPoint, create, design, example, sample, download</cp:keywords>
  <dc:description>Download our scientific poster templates at no cost to you and get one step closer to making a great research poster.</dc:description>
  <cp:lastModifiedBy>OBrien, Dylan</cp:lastModifiedBy>
  <cp:revision>35</cp:revision>
  <dcterms:modified xsi:type="dcterms:W3CDTF">2025-12-12T03:17:57Z</dcterms:modified>
  <cp:category>scientific poster PowerPoint</cp:category>
</cp:coreProperties>
</file>